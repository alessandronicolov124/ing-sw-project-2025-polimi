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61" r:id="rId5"/>
    <p:sldId id="263" r:id="rId6"/>
    <p:sldId id="262" r:id="rId7"/>
    <p:sldId id="260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4D162-A9BA-ADAC-18A6-CB87A4139837}" v="493" dt="2025-06-24T07:46:18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4" d="100"/>
          <a:sy n="84" d="100"/>
        </p:scale>
        <p:origin x="48" y="1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470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5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52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43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35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0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35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2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50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48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390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883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599660"/>
            <a:ext cx="6592186" cy="2884107"/>
          </a:xfrm>
        </p:spPr>
        <p:txBody>
          <a:bodyPr anchor="b">
            <a:normAutofit/>
          </a:bodyPr>
          <a:lstStyle/>
          <a:p>
            <a:r>
              <a:rPr lang="de-DE" dirty="0" err="1">
                <a:latin typeface="Helvetica"/>
                <a:cs typeface="Helvetica"/>
              </a:rPr>
              <a:t>Prova</a:t>
            </a:r>
            <a:r>
              <a:rPr lang="de-DE" dirty="0">
                <a:latin typeface="Helvetica"/>
                <a:cs typeface="Helvetica"/>
              </a:rPr>
              <a:t> Finale INGSW – Galaxy Truckers</a:t>
            </a:r>
            <a:endParaRPr lang="it-IT" dirty="0"/>
          </a:p>
          <a:p>
            <a:endParaRPr lang="de-DE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914400" y="956115"/>
            <a:ext cx="6592186" cy="1160231"/>
          </a:xfrm>
        </p:spPr>
        <p:txBody>
          <a:bodyPr anchor="t">
            <a:normAutofit/>
          </a:bodyPr>
          <a:lstStyle/>
          <a:p>
            <a:r>
              <a:rPr lang="de-DE" dirty="0"/>
              <a:t>Anno </a:t>
            </a:r>
            <a:r>
              <a:rPr lang="de-DE" dirty="0" err="1"/>
              <a:t>Accademico</a:t>
            </a:r>
            <a:r>
              <a:rPr lang="de-DE" dirty="0"/>
              <a:t> 2024/2025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5832631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9163554-2FA3-92B7-6F78-021AAE56B798}"/>
              </a:ext>
            </a:extLst>
          </p:cNvPr>
          <p:cNvSpPr txBox="1"/>
          <p:nvPr/>
        </p:nvSpPr>
        <p:spPr>
          <a:xfrm>
            <a:off x="7167966" y="4287864"/>
            <a:ext cx="402955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it-IT" dirty="0"/>
              <a:t>Francesco Galimberti</a:t>
            </a:r>
          </a:p>
          <a:p>
            <a:pPr algn="r"/>
            <a:r>
              <a:rPr lang="it-IT" dirty="0"/>
              <a:t>Alessandro </a:t>
            </a:r>
            <a:r>
              <a:rPr lang="it-IT" u="sng"/>
              <a:t>Nicolov</a:t>
            </a:r>
            <a:endParaRPr lang="it-IT" u="sng" dirty="0"/>
          </a:p>
          <a:p>
            <a:pPr algn="r"/>
            <a:r>
              <a:rPr lang="it-IT" dirty="0"/>
              <a:t>Simone Errigo</a:t>
            </a:r>
          </a:p>
          <a:p>
            <a:pPr algn="r"/>
            <a:r>
              <a:rPr lang="it-IT" dirty="0"/>
              <a:t>Filippo Roggi</a:t>
            </a: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93276-FB05-2139-6875-67B7968E2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Helvetica"/>
                <a:cs typeface="Helvetica"/>
              </a:rPr>
              <a:t>INTRODUZIONE</a:t>
            </a:r>
            <a:endParaRPr lang="it-IT" dirty="0"/>
          </a:p>
          <a:p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E57AD-AA4D-1B82-8B18-8BD94384F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it-IT" sz="2400" dirty="0">
                <a:solidFill>
                  <a:srgbClr val="BCBEC4"/>
                </a:solidFill>
                <a:latin typeface="Helvetica"/>
                <a:cs typeface="Helvetica"/>
              </a:rPr>
              <a:t>Il presente documento descrive il progetto software realizzato per il corso di Ingegneria del Software, che consiste nello sviluppo di una versione digitale distribuita del gioco da tavolo Galaxy </a:t>
            </a:r>
            <a:r>
              <a:rPr lang="it-IT" sz="2400" dirty="0" err="1">
                <a:solidFill>
                  <a:srgbClr val="BCBEC4"/>
                </a:solidFill>
                <a:latin typeface="Helvetica"/>
                <a:cs typeface="Helvetica"/>
              </a:rPr>
              <a:t>Trucker</a:t>
            </a:r>
            <a:r>
              <a:rPr lang="it-IT" sz="2400" dirty="0">
                <a:solidFill>
                  <a:srgbClr val="BCBEC4"/>
                </a:solidFill>
                <a:latin typeface="Helvetica"/>
                <a:cs typeface="Helvetica"/>
              </a:rPr>
              <a:t>. Il progetto è stato sviluppato in Java, con architettura </a:t>
            </a:r>
            <a:r>
              <a:rPr lang="it-IT" sz="2400" dirty="0" err="1">
                <a:solidFill>
                  <a:srgbClr val="BCBEC4"/>
                </a:solidFill>
                <a:latin typeface="Helvetica"/>
                <a:cs typeface="Helvetica"/>
              </a:rPr>
              <a:t>client-server</a:t>
            </a:r>
            <a:r>
              <a:rPr lang="it-IT" sz="2400" dirty="0">
                <a:solidFill>
                  <a:srgbClr val="BCBEC4"/>
                </a:solidFill>
                <a:latin typeface="Helvetica"/>
                <a:cs typeface="Helvetica"/>
              </a:rPr>
              <a:t> e supporto sia per interfaccia testuale (TUI) che grafica (GUI).</a:t>
            </a:r>
          </a:p>
          <a:p>
            <a:pPr marL="0" indent="0">
              <a:buNone/>
            </a:pPr>
            <a:r>
              <a:rPr lang="it-IT" sz="2400" dirty="0">
                <a:solidFill>
                  <a:srgbClr val="BCBEC4"/>
                </a:solidFill>
                <a:latin typeface="Helvetica"/>
                <a:cs typeface="Helvetica"/>
              </a:rPr>
              <a:t>Il sistema garantisce: aderenza alle regole ufficiali del gioco, architettura modulare e scalabile, facilmente estendibile, </a:t>
            </a:r>
            <a:r>
              <a:rPr lang="it-IT" sz="2400" dirty="0" err="1">
                <a:solidFill>
                  <a:srgbClr val="BCBEC4"/>
                </a:solidFill>
                <a:latin typeface="Helvetica"/>
                <a:cs typeface="Helvetica"/>
              </a:rPr>
              <a:t>aaffidabilità</a:t>
            </a:r>
            <a:r>
              <a:rPr lang="it-IT" sz="2400" dirty="0">
                <a:solidFill>
                  <a:srgbClr val="BCBEC4"/>
                </a:solidFill>
                <a:latin typeface="Helvetica"/>
                <a:cs typeface="Helvetica"/>
              </a:rPr>
              <a:t> nella gestione della comunicazione di rete tra client e server</a:t>
            </a:r>
            <a:endParaRPr lang="it-IT" sz="2400" dirty="0">
              <a:solidFill>
                <a:srgbClr val="000000"/>
              </a:solidFill>
              <a:latin typeface="Grandview Display"/>
              <a:cs typeface="Helvetica"/>
            </a:endParaRPr>
          </a:p>
          <a:p>
            <a:endParaRPr lang="it-IT" sz="2400" dirty="0">
              <a:solidFill>
                <a:srgbClr val="BCBEC4"/>
              </a:solidFill>
              <a:latin typeface="Helvetica"/>
              <a:cs typeface="Helvetica"/>
            </a:endParaRPr>
          </a:p>
          <a:p>
            <a:pPr marL="0" indent="0">
              <a:buNone/>
            </a:pPr>
            <a:endParaRPr lang="it-IT" sz="2400" dirty="0">
              <a:solidFill>
                <a:srgbClr val="BCBEC4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90373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C9269-30D3-E7E6-6576-C2F3DCC3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Helvetica"/>
                <a:cs typeface="Helvetica"/>
              </a:rPr>
              <a:t>REQUISITI</a:t>
            </a:r>
            <a:endParaRPr lang="it-IT" dirty="0"/>
          </a:p>
          <a:p>
            <a:endParaRPr lang="it-I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B194F-B2DF-6448-3906-78EE07734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101946"/>
            <a:ext cx="5212080" cy="90477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it-IT" dirty="0">
                <a:latin typeface="Helvetica"/>
                <a:cs typeface="Helvetica"/>
              </a:rPr>
              <a:t>Game </a:t>
            </a:r>
            <a:r>
              <a:rPr lang="it-IT" dirty="0" err="1">
                <a:latin typeface="Helvetica"/>
                <a:cs typeface="Helvetica"/>
              </a:rPr>
              <a:t>Specific</a:t>
            </a:r>
            <a:endParaRPr lang="it-IT" sz="1100" dirty="0">
              <a:latin typeface="Helvetica"/>
              <a:cs typeface="Helvetica"/>
            </a:endParaRPr>
          </a:p>
          <a:p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B7164-5522-EEE4-5941-32CEFBD5E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2663535"/>
            <a:ext cx="5212080" cy="35344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it-IT" sz="1400" b="1" dirty="0">
                <a:latin typeface="Helvetica"/>
                <a:cs typeface="Helvetica"/>
              </a:rPr>
              <a:t>Volo di Prova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: modalità alternativa con plance e regole semplificate.</a:t>
            </a:r>
            <a:endParaRPr lang="it-IT" sz="1400" dirty="0">
              <a:latin typeface="Helvetica"/>
              <a:cs typeface="Helvetica"/>
            </a:endParaRPr>
          </a:p>
          <a:p>
            <a:r>
              <a:rPr lang="it-IT" sz="1400" b="1" dirty="0">
                <a:latin typeface="Helvetica"/>
                <a:cs typeface="Helvetica"/>
              </a:rPr>
              <a:t>Partite Multiple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: il server può gestire più partite contemporaneamente</a:t>
            </a:r>
            <a:endParaRPr lang="it-IT" sz="1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9F8FCA-AA58-286A-8D2F-ED8F92664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it-IT" dirty="0">
                <a:latin typeface="Helvetica"/>
                <a:cs typeface="Helvetica"/>
              </a:rPr>
              <a:t>Game-</a:t>
            </a:r>
            <a:r>
              <a:rPr lang="it-IT" dirty="0" err="1">
                <a:latin typeface="Helvetica"/>
                <a:cs typeface="Helvetica"/>
              </a:rPr>
              <a:t>Agnostic</a:t>
            </a:r>
            <a:endParaRPr lang="it-IT" dirty="0"/>
          </a:p>
          <a:p>
            <a:endParaRPr lang="it-I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648B1-CBD5-3A4C-664E-C1AD0CA5A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2675168"/>
            <a:ext cx="5212080" cy="35228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it-IT" sz="1400" b="1" dirty="0">
                <a:latin typeface="Helvetica"/>
                <a:cs typeface="Helvetica"/>
              </a:rPr>
              <a:t>Architettura (MVC): </a:t>
            </a:r>
          </a:p>
          <a:p>
            <a:pPr marL="0" indent="0">
              <a:buNone/>
            </a:pPr>
            <a:r>
              <a:rPr lang="it-IT" sz="1400" b="1" dirty="0">
                <a:latin typeface="Helvetica"/>
                <a:cs typeface="Helvetica"/>
              </a:rPr>
              <a:t>Model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: contiene la logica di gioco, lo stato delle navi, la gestione delle carte e la validazione delle mosse, </a:t>
            </a:r>
            <a:r>
              <a:rPr lang="it-IT" sz="1400" b="1" dirty="0" err="1">
                <a:latin typeface="Helvetica"/>
                <a:cs typeface="Helvetica"/>
              </a:rPr>
              <a:t>View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: implementa sia la TUI che la GUI, mostrando lo stato aggiornato e ricevendo input dagli utenti, </a:t>
            </a:r>
            <a:r>
              <a:rPr lang="it-IT" sz="1400" b="1" dirty="0">
                <a:latin typeface="Helvetica"/>
                <a:cs typeface="Helvetica"/>
              </a:rPr>
              <a:t>Controller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: gestisce la logica di coordinamento tra Model e </a:t>
            </a:r>
            <a:r>
              <a:rPr lang="it-IT" sz="1400" dirty="0" err="1">
                <a:solidFill>
                  <a:srgbClr val="BCBEC4"/>
                </a:solidFill>
                <a:latin typeface="Helvetica"/>
                <a:cs typeface="Helvetica"/>
              </a:rPr>
              <a:t>View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, inoltra i comandi e si occupa della comunicazione </a:t>
            </a:r>
            <a:r>
              <a:rPr lang="it-IT" sz="1400" dirty="0" err="1">
                <a:solidFill>
                  <a:srgbClr val="BCBEC4"/>
                </a:solidFill>
                <a:latin typeface="Helvetica"/>
                <a:cs typeface="Helvetica"/>
              </a:rPr>
              <a:t>client-server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.</a:t>
            </a:r>
            <a:endParaRPr lang="it-IT" sz="1400" dirty="0">
              <a:latin typeface="Helvetica"/>
              <a:cs typeface="Helvetica"/>
            </a:endParaRPr>
          </a:p>
          <a:p>
            <a:pPr marL="0" indent="0">
              <a:buNone/>
            </a:pPr>
            <a:r>
              <a:rPr lang="it-IT" sz="1400" b="1" dirty="0">
                <a:latin typeface="Helvetica"/>
                <a:cs typeface="Helvetica"/>
              </a:rPr>
              <a:t>Tecnologia Client-Server</a:t>
            </a:r>
            <a:r>
              <a:rPr lang="it-IT" sz="1400" b="1" dirty="0">
                <a:solidFill>
                  <a:srgbClr val="BCBEC4"/>
                </a:solidFill>
                <a:latin typeface="Helvetica"/>
                <a:cs typeface="Helvetica"/>
              </a:rPr>
              <a:t>: </a:t>
            </a:r>
          </a:p>
          <a:p>
            <a:pPr marL="0" indent="0">
              <a:buNone/>
            </a:pP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L’applicazione supporta due modalità di comunicazione </a:t>
            </a:r>
            <a:r>
              <a:rPr lang="it-IT" sz="1400" dirty="0">
                <a:latin typeface="Helvetica"/>
                <a:cs typeface="Helvetica"/>
              </a:rPr>
              <a:t>TCP/IP 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tramite </a:t>
            </a:r>
            <a:r>
              <a:rPr lang="it-IT" sz="1400" dirty="0" err="1">
                <a:solidFill>
                  <a:srgbClr val="BCBEC4"/>
                </a:solidFill>
                <a:latin typeface="Helvetica"/>
                <a:cs typeface="Helvetica"/>
              </a:rPr>
              <a:t>Socket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 ed </a:t>
            </a:r>
            <a:r>
              <a:rPr lang="it-IT" sz="1400" dirty="0">
                <a:latin typeface="Helvetica"/>
                <a:cs typeface="Helvetica"/>
              </a:rPr>
              <a:t>RMI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, La scelta della modalità avviene all’avvio dell’applicazione, a discrezione dell’</a:t>
            </a:r>
            <a:r>
              <a:rPr lang="it-IT" sz="1400" dirty="0" err="1">
                <a:solidFill>
                  <a:srgbClr val="BCBEC4"/>
                </a:solidFill>
                <a:latin typeface="Helvetica"/>
                <a:cs typeface="Helvetica"/>
              </a:rPr>
              <a:t>utente.Tutti</a:t>
            </a:r>
            <a:r>
              <a:rPr lang="it-IT" sz="1400" dirty="0">
                <a:solidFill>
                  <a:srgbClr val="BCBEC4"/>
                </a:solidFill>
                <a:latin typeface="Helvetica"/>
                <a:cs typeface="Helvetica"/>
              </a:rPr>
              <a:t> i dati scambiati tra client e server sono rappresentati tramite oggetti Java serializzabili, permettendo il trasferimento sicuro e tipizzato delle informazioni.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133277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D2F41660-6550-CD29-84F6-186313474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75038"/>
            <a:ext cx="10890929" cy="1097280"/>
          </a:xfrm>
        </p:spPr>
        <p:txBody>
          <a:bodyPr/>
          <a:lstStyle/>
          <a:p>
            <a:r>
              <a:rPr lang="it-IT" dirty="0">
                <a:latin typeface="Helvetica"/>
                <a:cs typeface="Helvetica"/>
              </a:rPr>
              <a:t>PROTOCOLLO DI COMUNICAZIONE (1)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935D4579-E17D-ADCD-AF82-795EEEFB9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1966206"/>
            <a:ext cx="5212080" cy="42533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800" b="1" dirty="0">
                <a:latin typeface="Helvetica"/>
                <a:cs typeface="Helvetica"/>
              </a:rPr>
              <a:t>Protocollo RMI</a:t>
            </a:r>
          </a:p>
          <a:p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VirtualServer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 (Server-side):  Espone i metodi remoti a cui il client può accedere.</a:t>
            </a:r>
          </a:p>
          <a:p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RmiClientIf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 (Client-side): Permette al server di inviare </a:t>
            </a:r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callback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 e notifiche asincrone al client.  </a:t>
            </a:r>
          </a:p>
          <a:p>
            <a:pPr marL="0" indent="0">
              <a:buNone/>
            </a:pPr>
            <a:r>
              <a:rPr lang="it-IT" sz="1800" b="1" dirty="0">
                <a:latin typeface="Helvetica"/>
                <a:cs typeface="Helvetica"/>
              </a:rPr>
              <a:t>Flusso tipico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Il client si collega al server RMI tramite </a:t>
            </a:r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lookup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 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Viene passato un riferimento remoto del client (`</a:t>
            </a:r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RmiClientIf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`) al server (</a:t>
            </a:r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callback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)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Tutte le operazioni (creazione giocatore, match, mosse, ecc.) sono invocate come metodi remoti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Gli aggiornamenti e le notifiche dal server sono inviati al client tramite `</a:t>
            </a:r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showUpdate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(</a:t>
            </a:r>
            <a:r>
              <a:rPr lang="it-IT" sz="14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ResponseMessage</a:t>
            </a:r>
            <a:r>
              <a:rPr lang="it-IT" sz="14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)`.</a:t>
            </a:r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4CD1C8C2-B213-FB12-BE84-6B9DE903D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1966206"/>
            <a:ext cx="5212080" cy="432750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it-IT" sz="2100" b="1" dirty="0">
                <a:latin typeface="Helvetica"/>
                <a:cs typeface="Helvetica"/>
              </a:rPr>
              <a:t>Protocollo TCP/IP (</a:t>
            </a:r>
            <a:r>
              <a:rPr lang="it-IT" sz="2100" b="1" dirty="0" err="1">
                <a:latin typeface="Helvetica"/>
                <a:cs typeface="Helvetica"/>
              </a:rPr>
              <a:t>Socket</a:t>
            </a:r>
            <a:r>
              <a:rPr lang="it-IT" sz="2100" b="1" dirty="0">
                <a:latin typeface="Helvetica"/>
                <a:cs typeface="Helvetica"/>
              </a:rPr>
              <a:t>)</a:t>
            </a:r>
          </a:p>
          <a:p>
            <a:pPr marL="0" indent="0">
              <a:buNone/>
            </a:pP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Il client apre una connessione </a:t>
            </a:r>
            <a:r>
              <a:rPr lang="it-IT" sz="18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socket</a:t>
            </a: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 al server su una porta specifica (default: 7777).- Gli oggetti vengono serializzati e inviati tramite stream. Il protocollo è </a:t>
            </a:r>
            <a:r>
              <a:rPr lang="it-IT" sz="18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message-based</a:t>
            </a: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: ogni messaggio implementa l’interfaccia `</a:t>
            </a:r>
            <a:r>
              <a:rPr lang="it-IT" sz="18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CommonMessage</a:t>
            </a: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` (serializzabile) o sue derivate.</a:t>
            </a:r>
          </a:p>
          <a:p>
            <a:pPr marL="0" indent="0">
              <a:buNone/>
            </a:pPr>
            <a:r>
              <a:rPr lang="it-IT" sz="2100" b="1" dirty="0">
                <a:latin typeface="Helvetica"/>
                <a:cs typeface="Helvetica"/>
              </a:rPr>
              <a:t>Flusso tipico</a:t>
            </a:r>
          </a:p>
          <a:p>
            <a:pPr marL="342900" indent="-342900">
              <a:buAutoNum type="arabicPeriod"/>
            </a:pP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Il client stabilisce la connessione e avvia i </a:t>
            </a:r>
            <a:r>
              <a:rPr lang="it-IT" sz="1800" dirty="0" err="1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thread</a:t>
            </a: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 per la gestione degli stream.</a:t>
            </a:r>
          </a:p>
          <a:p>
            <a:pPr marL="342900" indent="-342900">
              <a:buAutoNum type="arabicPeriod"/>
            </a:pP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Il client invia una richiesta (ad es. creare un giocatore).</a:t>
            </a:r>
          </a:p>
          <a:p>
            <a:pPr marL="342900" indent="-342900">
              <a:buAutoNum type="arabicPeriod"/>
            </a:pP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Il server risponde con l’oggetto di risposta appropriato</a:t>
            </a:r>
          </a:p>
          <a:p>
            <a:pPr marL="342900" indent="-342900">
              <a:buAutoNum type="arabicPeriod"/>
            </a:pPr>
            <a:r>
              <a:rPr lang="it-IT" sz="1800" dirty="0">
                <a:solidFill>
                  <a:schemeClr val="bg1">
                    <a:lumMod val="65000"/>
                  </a:schemeClr>
                </a:solidFill>
                <a:latin typeface="Helvetica"/>
                <a:cs typeface="Helvetica"/>
              </a:rPr>
              <a:t>Gli aggiornamenti dal server vengono inviati come ulteriori oggetti di risposta.</a:t>
            </a:r>
          </a:p>
        </p:txBody>
      </p:sp>
    </p:spTree>
    <p:extLst>
      <p:ext uri="{BB962C8B-B14F-4D97-AF65-F5344CB8AC3E}">
        <p14:creationId xmlns:p14="http://schemas.microsoft.com/office/powerpoint/2010/main" val="116653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AFB2E-A6F4-F0C0-E004-BD3BDD8FF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416F1668-5641-2A86-BA93-568E3578D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Helvetica"/>
                <a:cs typeface="Helvetica"/>
              </a:rPr>
              <a:t>PROTOCOLLO DI COMUNICAZIONE (2)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C7AD524E-4C66-6048-B570-4D860AE9F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246293"/>
            <a:ext cx="10890928" cy="40886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1600" b="1" dirty="0">
                <a:latin typeface="Helvetica"/>
                <a:cs typeface="Helvetica"/>
              </a:rPr>
              <a:t>Esempio di ciclo di vita di una connessione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L’utente sceglie modalità (RMI o 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Socket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), IP e porta.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Il client si connette e invia la richiesta di creazione giocatore.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Il server registra il giocatore e invia una risposta.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Il client può creare o unirsi a un match.</a:t>
            </a:r>
          </a:p>
          <a:p>
            <a:pPr marL="342900" indent="-342900">
              <a:buAutoNum type="arabicPeriod"/>
            </a:pP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Durante il gioco, tutte le azioni e notifiche (come aggiornamenti di stato, mosse, cambiamenti nella lobby) sono trasmesse come oggetti serializzabili attraverso la modalità selezionata.</a:t>
            </a:r>
          </a:p>
          <a:p>
            <a:pPr marL="0" indent="0">
              <a:buNone/>
            </a:pPr>
            <a:r>
              <a:rPr lang="it-IT" sz="1600" b="1" dirty="0">
                <a:latin typeface="Helvetica"/>
                <a:cs typeface="Helvetica"/>
              </a:rPr>
              <a:t>Sicurezza e gestione errori:</a:t>
            </a:r>
            <a:r>
              <a:rPr lang="it-IT" sz="1800" b="1" dirty="0">
                <a:latin typeface="Helvetica"/>
                <a:cs typeface="Helvetica"/>
              </a:rPr>
              <a:t> 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se la connessione viene persa, il client riceve notifiche di errore appropriate.- Le eccezioni 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RemoteException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 (per RMI) e 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IOException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 (per </a:t>
            </a:r>
            <a:r>
              <a:rPr lang="it-IT" sz="1400" dirty="0" err="1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socket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) sono gestite per informare l’utente di problemi di rete</a:t>
            </a:r>
            <a:r>
              <a:rPr lang="it-IT" sz="1800" dirty="0">
                <a:latin typeface="Helvetica"/>
                <a:cs typeface="Helvetica"/>
              </a:rPr>
              <a:t>.</a:t>
            </a:r>
          </a:p>
          <a:p>
            <a:pPr marL="0" indent="0">
              <a:buNone/>
            </a:pPr>
            <a:r>
              <a:rPr lang="it-IT" sz="1600" b="1" dirty="0">
                <a:latin typeface="Helvetica"/>
                <a:cs typeface="Helvetica"/>
              </a:rPr>
              <a:t>Estendibilità:</a:t>
            </a:r>
            <a:r>
              <a:rPr lang="it-IT" sz="1800" b="1" dirty="0">
                <a:latin typeface="Helvetica"/>
                <a:cs typeface="Helvetica"/>
              </a:rPr>
              <a:t> </a:t>
            </a:r>
            <a:r>
              <a:rPr lang="it-IT" sz="1400" dirty="0">
                <a:solidFill>
                  <a:schemeClr val="bg1">
                    <a:lumMod val="75000"/>
                  </a:schemeClr>
                </a:solidFill>
                <a:latin typeface="Helvetica"/>
                <a:cs typeface="Helvetica"/>
              </a:rPr>
              <a:t>grazie all’uso di oggetti serializzabili e interfacce ben definite, è possibile aggiungere nuovi messaggi o funzioni estendendo le interfacce e i tipi di messaggi senza rompere il protocollo esistente.</a:t>
            </a:r>
          </a:p>
        </p:txBody>
      </p:sp>
    </p:spTree>
    <p:extLst>
      <p:ext uri="{BB962C8B-B14F-4D97-AF65-F5344CB8AC3E}">
        <p14:creationId xmlns:p14="http://schemas.microsoft.com/office/powerpoint/2010/main" val="322666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5DA771-7B1F-3F5A-1DDA-C2A7D004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EF2C87-F011-F4CD-CA6D-6B5B96F3BD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8D51624-89FF-0FD7-1E03-839939C14E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8218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AB14E-E086-5620-0F29-602C1D3BE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it-IT">
                <a:latin typeface="Helvetica"/>
                <a:cs typeface="Helvetica"/>
              </a:rPr>
              <a:t>CONCLUSIONI</a:t>
            </a:r>
            <a:endParaRPr lang="it-IT"/>
          </a:p>
          <a:p>
            <a:endParaRPr lang="it-IT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9282B073-7EAF-C263-35F9-23B3207B6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890929" cy="36667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1800" dirty="0">
                <a:solidFill>
                  <a:srgbClr val="BCBEC4"/>
                </a:solidFill>
                <a:latin typeface="Helvetica"/>
                <a:cs typeface="Helvetica"/>
              </a:rPr>
              <a:t>Il progetto Galaxy </a:t>
            </a:r>
            <a:r>
              <a:rPr lang="it-IT" sz="1800" dirty="0" err="1">
                <a:solidFill>
                  <a:srgbClr val="BCBEC4"/>
                </a:solidFill>
                <a:latin typeface="Helvetica"/>
                <a:cs typeface="Helvetica"/>
              </a:rPr>
              <a:t>Trucker</a:t>
            </a:r>
            <a:r>
              <a:rPr lang="it-IT" sz="1800" dirty="0">
                <a:solidFill>
                  <a:srgbClr val="BCBEC4"/>
                </a:solidFill>
                <a:latin typeface="Helvetica"/>
                <a:cs typeface="Helvetica"/>
              </a:rPr>
              <a:t> ha permesso di affrontare tutte le principali sfide dell’ingegneria del software: progettazione di sistemi distribuiti, implementazione di interfacce utente, gestione della comunicazione di rete.</a:t>
            </a:r>
            <a:br>
              <a:rPr lang="it-IT" sz="1800" dirty="0">
                <a:latin typeface="Helvetica"/>
                <a:cs typeface="Helvetica"/>
              </a:rPr>
            </a:br>
            <a:r>
              <a:rPr lang="it-IT" sz="1800" dirty="0">
                <a:solidFill>
                  <a:srgbClr val="BCBEC4"/>
                </a:solidFill>
                <a:latin typeface="Helvetica"/>
                <a:cs typeface="Helvetica"/>
              </a:rPr>
              <a:t>L’adozione di pattern consolidati e la cura nella qualità del codice hanno garantito un sistema robusto, </a:t>
            </a:r>
            <a:r>
              <a:rPr lang="it-IT" sz="1800" dirty="0" err="1">
                <a:solidFill>
                  <a:srgbClr val="BCBEC4"/>
                </a:solidFill>
                <a:latin typeface="Helvetica"/>
                <a:cs typeface="Helvetica"/>
              </a:rPr>
              <a:t>manutenibile</a:t>
            </a:r>
            <a:r>
              <a:rPr lang="it-IT" sz="1800" dirty="0">
                <a:solidFill>
                  <a:srgbClr val="BCBEC4"/>
                </a:solidFill>
                <a:latin typeface="Helvetica"/>
                <a:cs typeface="Helvetica"/>
              </a:rPr>
              <a:t> e conforme alle specifiche.</a:t>
            </a:r>
            <a:br>
              <a:rPr lang="it-IT" sz="1800" dirty="0">
                <a:latin typeface="Helvetica"/>
                <a:cs typeface="Helvetica"/>
              </a:rPr>
            </a:br>
            <a:r>
              <a:rPr lang="it-IT" sz="1800" dirty="0">
                <a:solidFill>
                  <a:srgbClr val="BCBEC4"/>
                </a:solidFill>
                <a:latin typeface="Helvetica"/>
                <a:cs typeface="Helvetica"/>
              </a:rPr>
              <a:t>L’architettura modulare consente inoltre di estendere facilmente il sistema con nuove funzionalità e modalità di gioco.</a:t>
            </a:r>
            <a:endParaRPr lang="it-IT" sz="1800" dirty="0">
              <a:latin typeface="Helvetica"/>
              <a:cs typeface="Helvetica"/>
            </a:endParaRPr>
          </a:p>
          <a:p>
            <a:endParaRPr lang="it-IT" sz="1800" dirty="0">
              <a:latin typeface="Helvetica"/>
              <a:cs typeface="Helvetica"/>
            </a:endParaRPr>
          </a:p>
        </p:txBody>
      </p:sp>
      <p:cxnSp>
        <p:nvCxnSpPr>
          <p:cNvPr id="21" name="Straight Connector 10">
            <a:extLst>
              <a:ext uri="{FF2B5EF4-FFF2-40B4-BE49-F238E27FC236}">
                <a16:creationId xmlns:a16="http://schemas.microsoft.com/office/drawing/2014/main" id="{EB1E2835-13A9-CE41-5BA6-8BF45C9EE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5298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694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Arial</vt:lpstr>
      <vt:lpstr>Grandview Display</vt:lpstr>
      <vt:lpstr>Helvetica</vt:lpstr>
      <vt:lpstr>DashVTI</vt:lpstr>
      <vt:lpstr>Prova Finale INGSW – Galaxy Truckers </vt:lpstr>
      <vt:lpstr>INTRODUZIONE </vt:lpstr>
      <vt:lpstr>REQUISITI </vt:lpstr>
      <vt:lpstr>PROTOCOLLO DI COMUNICAZIONE (1)</vt:lpstr>
      <vt:lpstr>PROTOCOLLO DI COMUNICAZIONE (2)</vt:lpstr>
      <vt:lpstr>Presentazione standard di PowerPoint</vt:lpstr>
      <vt:lpstr>CONCLUSIONI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Francesco Galimberti</cp:lastModifiedBy>
  <cp:revision>163</cp:revision>
  <dcterms:created xsi:type="dcterms:W3CDTF">2025-06-24T07:10:11Z</dcterms:created>
  <dcterms:modified xsi:type="dcterms:W3CDTF">2025-06-24T08:46:28Z</dcterms:modified>
</cp:coreProperties>
</file>